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e19368a32f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e19368a32f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e19368a32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e19368a32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e19368a32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e19368a32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e19368a32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e19368a32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e19368a32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e19368a32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e19368a32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e19368a32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e19368a32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e19368a32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e25140d18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e25140d18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e25140d18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e25140d18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e19368a32f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e19368a32f_2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0" y="-377150"/>
            <a:ext cx="9144000" cy="1276500"/>
          </a:xfrm>
          <a:prstGeom prst="rect">
            <a:avLst/>
          </a:prstGeom>
          <a:noFill/>
          <a:ln>
            <a:noFill/>
          </a:ln>
        </p:spPr>
        <p:txBody>
          <a:bodyPr anchorCtr="0" anchor="b" bIns="34275" lIns="68575" spcFirstLastPara="1" rIns="68575" wrap="square" tIns="34275">
            <a:normAutofit/>
          </a:bodyPr>
          <a:lstStyle>
            <a:lvl1pPr lvl="0">
              <a:lnSpc>
                <a:spcPct val="90000"/>
              </a:lnSpc>
              <a:spcBef>
                <a:spcPts val="0"/>
              </a:spcBef>
              <a:spcAft>
                <a:spcPts val="0"/>
              </a:spcAft>
              <a:buClr>
                <a:schemeClr val="dk1"/>
              </a:buClr>
              <a:buSzPts val="4500"/>
              <a:buFont typeface="Calibri"/>
              <a:buNone/>
              <a:defRPr sz="4500">
                <a:solidFill>
                  <a:srgbClr val="FF6600"/>
                </a:solidFill>
                <a:highlight>
                  <a:schemeClr val="lt1"/>
                </a:highligh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6"/>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79"/>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10.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21.png"/><Relationship Id="rId8"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B3B3B"/>
        </a:solidFill>
      </p:bgPr>
    </p:bg>
    <p:spTree>
      <p:nvGrpSpPr>
        <p:cNvPr id="128" name="Shape 128"/>
        <p:cNvGrpSpPr/>
        <p:nvPr/>
      </p:nvGrpSpPr>
      <p:grpSpPr>
        <a:xfrm>
          <a:off x="0" y="0"/>
          <a:ext cx="0" cy="0"/>
          <a:chOff x="0" y="0"/>
          <a:chExt cx="0" cy="0"/>
        </a:xfrm>
      </p:grpSpPr>
      <p:pic>
        <p:nvPicPr>
          <p:cNvPr id="129" name="Google Shape;129;p25"/>
          <p:cNvPicPr preferRelativeResize="0"/>
          <p:nvPr/>
        </p:nvPicPr>
        <p:blipFill rotWithShape="1">
          <a:blip r:embed="rId3">
            <a:alphaModFix/>
          </a:blip>
          <a:srcRect b="0" l="0" r="0" t="0"/>
          <a:stretch/>
        </p:blipFill>
        <p:spPr>
          <a:xfrm>
            <a:off x="770499" y="0"/>
            <a:ext cx="1744100" cy="1744100"/>
          </a:xfrm>
          <a:prstGeom prst="rect">
            <a:avLst/>
          </a:prstGeom>
          <a:noFill/>
          <a:ln>
            <a:noFill/>
          </a:ln>
        </p:spPr>
      </p:pic>
      <p:sp>
        <p:nvSpPr>
          <p:cNvPr id="130" name="Google Shape;130;p25"/>
          <p:cNvSpPr txBox="1"/>
          <p:nvPr/>
        </p:nvSpPr>
        <p:spPr>
          <a:xfrm>
            <a:off x="653143" y="1785257"/>
            <a:ext cx="6655200" cy="2855400"/>
          </a:xfrm>
          <a:prstGeom prst="rect">
            <a:avLst/>
          </a:prstGeom>
          <a:solidFill>
            <a:srgbClr val="3B3B3B"/>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5000" u="none" cap="none" strike="noStrike">
                <a:solidFill>
                  <a:srgbClr val="FF6600"/>
                </a:solidFill>
                <a:latin typeface="Calibri"/>
                <a:ea typeface="Calibri"/>
                <a:cs typeface="Calibri"/>
                <a:sym typeface="Calibri"/>
              </a:rPr>
              <a:t>Exploratory Data Analysis</a:t>
            </a:r>
            <a:endParaRPr sz="1100"/>
          </a:p>
          <a:p>
            <a:pPr indent="0" lvl="0" marL="0" marR="0" rtl="0" algn="l">
              <a:spcBef>
                <a:spcPts val="0"/>
              </a:spcBef>
              <a:spcAft>
                <a:spcPts val="0"/>
              </a:spcAft>
              <a:buNone/>
            </a:pPr>
            <a:r>
              <a:rPr lang="en" sz="3000">
                <a:solidFill>
                  <a:schemeClr val="dk1"/>
                </a:solidFill>
                <a:latin typeface="Calibri"/>
                <a:ea typeface="Calibri"/>
                <a:cs typeface="Calibri"/>
                <a:sym typeface="Calibri"/>
              </a:rPr>
              <a:t>G2M insight for Cab investment firm</a:t>
            </a:r>
            <a:endParaRPr sz="1100"/>
          </a:p>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a:p>
            <a:pPr indent="0" lvl="0" marL="0" marR="0" rtl="0" algn="l">
              <a:spcBef>
                <a:spcPts val="0"/>
              </a:spcBef>
              <a:spcAft>
                <a:spcPts val="0"/>
              </a:spcAft>
              <a:buNone/>
            </a:pPr>
            <a:r>
              <a:rPr b="1" lang="en" sz="2100">
                <a:solidFill>
                  <a:schemeClr val="dk1"/>
                </a:solidFill>
                <a:latin typeface="Calibri"/>
                <a:ea typeface="Calibri"/>
                <a:cs typeface="Calibri"/>
                <a:sym typeface="Calibri"/>
              </a:rPr>
              <a:t>&lt;20.06.2021&gt;</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ctrTitle"/>
          </p:nvPr>
        </p:nvSpPr>
        <p:spPr>
          <a:xfrm>
            <a:off x="2110350" y="-353075"/>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General Information</a:t>
            </a:r>
            <a:endParaRPr/>
          </a:p>
        </p:txBody>
      </p:sp>
      <p:sp>
        <p:nvSpPr>
          <p:cNvPr id="136" name="Google Shape;136;p26"/>
          <p:cNvSpPr txBox="1"/>
          <p:nvPr>
            <p:ph idx="1" type="subTitle"/>
          </p:nvPr>
        </p:nvSpPr>
        <p:spPr>
          <a:xfrm>
            <a:off x="1143000" y="1249144"/>
            <a:ext cx="6858000" cy="3549900"/>
          </a:xfrm>
          <a:prstGeom prst="rect">
            <a:avLst/>
          </a:prstGeom>
        </p:spPr>
        <p:txBody>
          <a:bodyPr anchorCtr="0" anchor="t" bIns="34275" lIns="68575" spcFirstLastPara="1" rIns="68575" wrap="square" tIns="34275">
            <a:normAutofit/>
          </a:bodyPr>
          <a:lstStyle/>
          <a:p>
            <a:pPr indent="0" lvl="0" marL="0" rtl="0" algn="ctr">
              <a:spcBef>
                <a:spcPts val="800"/>
              </a:spcBef>
              <a:spcAft>
                <a:spcPts val="0"/>
              </a:spcAft>
              <a:buNone/>
            </a:pPr>
            <a:r>
              <a:rPr lang="en"/>
              <a:t>XYZ firm is a private firm in US. We will help investors to make a right decision, is it worth to invest in this company</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Goal: Identify spots that help to raise income.</a:t>
            </a:r>
            <a:endParaRPr/>
          </a:p>
          <a:p>
            <a:pPr indent="0" lvl="0" marL="0" rtl="0" algn="l">
              <a:spcBef>
                <a:spcPts val="800"/>
              </a:spcBef>
              <a:spcAft>
                <a:spcPts val="0"/>
              </a:spcAft>
              <a:buNone/>
            </a:pPr>
            <a:r>
              <a:rPr lang="en"/>
              <a:t>Areas to investigate (hypotheses):</a:t>
            </a:r>
            <a:endParaRPr/>
          </a:p>
          <a:p>
            <a:pPr indent="-342900" lvl="0" marL="457200" rtl="0" algn="l">
              <a:spcBef>
                <a:spcPts val="800"/>
              </a:spcBef>
              <a:spcAft>
                <a:spcPts val="0"/>
              </a:spcAft>
              <a:buSzPts val="1800"/>
              <a:buAutoNum type="arabicPeriod"/>
            </a:pPr>
            <a:r>
              <a:rPr lang="en"/>
              <a:t>How does sex impact on the income?</a:t>
            </a:r>
            <a:endParaRPr/>
          </a:p>
          <a:p>
            <a:pPr indent="-342900" lvl="0" marL="457200" rtl="0" algn="l">
              <a:spcBef>
                <a:spcPts val="0"/>
              </a:spcBef>
              <a:spcAft>
                <a:spcPts val="0"/>
              </a:spcAft>
              <a:buSzPts val="1800"/>
              <a:buAutoNum type="arabicPeriod"/>
            </a:pPr>
            <a:r>
              <a:rPr lang="en"/>
              <a:t>How does the city impact on the income?</a:t>
            </a:r>
            <a:endParaRPr/>
          </a:p>
          <a:p>
            <a:pPr indent="-342900" lvl="0" marL="457200" rtl="0" algn="l">
              <a:spcBef>
                <a:spcPts val="0"/>
              </a:spcBef>
              <a:spcAft>
                <a:spcPts val="0"/>
              </a:spcAft>
              <a:buSzPts val="1800"/>
              <a:buAutoNum type="arabicPeriod"/>
            </a:pPr>
            <a:r>
              <a:rPr lang="en"/>
              <a:t>Does card or cash makes sense?</a:t>
            </a:r>
            <a:endParaRPr/>
          </a:p>
          <a:p>
            <a:pPr indent="-342900" lvl="0" marL="457200" rtl="0" algn="l">
              <a:spcBef>
                <a:spcPts val="0"/>
              </a:spcBef>
              <a:spcAft>
                <a:spcPts val="0"/>
              </a:spcAft>
              <a:buSzPts val="1800"/>
              <a:buAutoNum type="arabicPeriod"/>
            </a:pPr>
            <a:r>
              <a:rPr lang="en"/>
              <a:t>How the income depends on 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ctrTitle"/>
          </p:nvPr>
        </p:nvSpPr>
        <p:spPr>
          <a:xfrm>
            <a:off x="521575" y="-240725"/>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General information about genders</a:t>
            </a:r>
            <a:endParaRPr/>
          </a:p>
        </p:txBody>
      </p:sp>
      <p:pic>
        <p:nvPicPr>
          <p:cNvPr id="142" name="Google Shape;142;p27"/>
          <p:cNvPicPr preferRelativeResize="0"/>
          <p:nvPr/>
        </p:nvPicPr>
        <p:blipFill>
          <a:blip r:embed="rId3">
            <a:alphaModFix/>
          </a:blip>
          <a:stretch>
            <a:fillRect/>
          </a:stretch>
        </p:blipFill>
        <p:spPr>
          <a:xfrm>
            <a:off x="0" y="1805825"/>
            <a:ext cx="3009225" cy="2487525"/>
          </a:xfrm>
          <a:prstGeom prst="rect">
            <a:avLst/>
          </a:prstGeom>
          <a:noFill/>
          <a:ln>
            <a:noFill/>
          </a:ln>
        </p:spPr>
      </p:pic>
      <p:pic>
        <p:nvPicPr>
          <p:cNvPr id="143" name="Google Shape;143;p27"/>
          <p:cNvPicPr preferRelativeResize="0"/>
          <p:nvPr/>
        </p:nvPicPr>
        <p:blipFill>
          <a:blip r:embed="rId4">
            <a:alphaModFix/>
          </a:blip>
          <a:stretch>
            <a:fillRect/>
          </a:stretch>
        </p:blipFill>
        <p:spPr>
          <a:xfrm>
            <a:off x="0" y="4293350"/>
            <a:ext cx="3009225" cy="810550"/>
          </a:xfrm>
          <a:prstGeom prst="rect">
            <a:avLst/>
          </a:prstGeom>
          <a:noFill/>
          <a:ln>
            <a:noFill/>
          </a:ln>
        </p:spPr>
      </p:pic>
      <p:pic>
        <p:nvPicPr>
          <p:cNvPr id="144" name="Google Shape;144;p27"/>
          <p:cNvPicPr preferRelativeResize="0"/>
          <p:nvPr/>
        </p:nvPicPr>
        <p:blipFill>
          <a:blip r:embed="rId5">
            <a:alphaModFix/>
          </a:blip>
          <a:stretch>
            <a:fillRect/>
          </a:stretch>
        </p:blipFill>
        <p:spPr>
          <a:xfrm>
            <a:off x="3009225" y="1805825"/>
            <a:ext cx="3129425" cy="2487525"/>
          </a:xfrm>
          <a:prstGeom prst="rect">
            <a:avLst/>
          </a:prstGeom>
          <a:noFill/>
          <a:ln>
            <a:noFill/>
          </a:ln>
        </p:spPr>
      </p:pic>
      <p:pic>
        <p:nvPicPr>
          <p:cNvPr id="145" name="Google Shape;145;p27"/>
          <p:cNvPicPr preferRelativeResize="0"/>
          <p:nvPr/>
        </p:nvPicPr>
        <p:blipFill>
          <a:blip r:embed="rId6">
            <a:alphaModFix/>
          </a:blip>
          <a:stretch>
            <a:fillRect/>
          </a:stretch>
        </p:blipFill>
        <p:spPr>
          <a:xfrm>
            <a:off x="3009225" y="4293350"/>
            <a:ext cx="3129425" cy="810550"/>
          </a:xfrm>
          <a:prstGeom prst="rect">
            <a:avLst/>
          </a:prstGeom>
          <a:noFill/>
          <a:ln>
            <a:noFill/>
          </a:ln>
        </p:spPr>
      </p:pic>
      <p:pic>
        <p:nvPicPr>
          <p:cNvPr id="146" name="Google Shape;146;p27"/>
          <p:cNvPicPr preferRelativeResize="0"/>
          <p:nvPr/>
        </p:nvPicPr>
        <p:blipFill>
          <a:blip r:embed="rId7">
            <a:alphaModFix/>
          </a:blip>
          <a:stretch>
            <a:fillRect/>
          </a:stretch>
        </p:blipFill>
        <p:spPr>
          <a:xfrm>
            <a:off x="6138650" y="1805825"/>
            <a:ext cx="3009225" cy="2487525"/>
          </a:xfrm>
          <a:prstGeom prst="rect">
            <a:avLst/>
          </a:prstGeom>
          <a:noFill/>
          <a:ln>
            <a:noFill/>
          </a:ln>
        </p:spPr>
      </p:pic>
      <p:pic>
        <p:nvPicPr>
          <p:cNvPr id="147" name="Google Shape;147;p27"/>
          <p:cNvPicPr preferRelativeResize="0"/>
          <p:nvPr/>
        </p:nvPicPr>
        <p:blipFill>
          <a:blip r:embed="rId8">
            <a:alphaModFix/>
          </a:blip>
          <a:stretch>
            <a:fillRect/>
          </a:stretch>
        </p:blipFill>
        <p:spPr>
          <a:xfrm>
            <a:off x="6138650" y="4293350"/>
            <a:ext cx="3009225" cy="81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ctrTitle"/>
          </p:nvPr>
        </p:nvSpPr>
        <p:spPr>
          <a:xfrm>
            <a:off x="625875" y="-425300"/>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The impact of gender on business</a:t>
            </a:r>
            <a:endParaRPr/>
          </a:p>
        </p:txBody>
      </p:sp>
      <p:pic>
        <p:nvPicPr>
          <p:cNvPr id="153" name="Google Shape;153;p28"/>
          <p:cNvPicPr preferRelativeResize="0"/>
          <p:nvPr/>
        </p:nvPicPr>
        <p:blipFill>
          <a:blip r:embed="rId3">
            <a:alphaModFix/>
          </a:blip>
          <a:stretch>
            <a:fillRect/>
          </a:stretch>
        </p:blipFill>
        <p:spPr>
          <a:xfrm>
            <a:off x="0" y="987500"/>
            <a:ext cx="2960926" cy="3081250"/>
          </a:xfrm>
          <a:prstGeom prst="rect">
            <a:avLst/>
          </a:prstGeom>
          <a:noFill/>
          <a:ln>
            <a:noFill/>
          </a:ln>
        </p:spPr>
      </p:pic>
      <p:pic>
        <p:nvPicPr>
          <p:cNvPr id="154" name="Google Shape;154;p28"/>
          <p:cNvPicPr preferRelativeResize="0"/>
          <p:nvPr/>
        </p:nvPicPr>
        <p:blipFill>
          <a:blip r:embed="rId4">
            <a:alphaModFix/>
          </a:blip>
          <a:stretch>
            <a:fillRect/>
          </a:stretch>
        </p:blipFill>
        <p:spPr>
          <a:xfrm>
            <a:off x="0" y="4092850"/>
            <a:ext cx="2960925" cy="1050650"/>
          </a:xfrm>
          <a:prstGeom prst="rect">
            <a:avLst/>
          </a:prstGeom>
          <a:noFill/>
          <a:ln>
            <a:noFill/>
          </a:ln>
        </p:spPr>
      </p:pic>
      <p:pic>
        <p:nvPicPr>
          <p:cNvPr id="155" name="Google Shape;155;p28"/>
          <p:cNvPicPr preferRelativeResize="0"/>
          <p:nvPr/>
        </p:nvPicPr>
        <p:blipFill>
          <a:blip r:embed="rId5">
            <a:alphaModFix/>
          </a:blip>
          <a:stretch>
            <a:fillRect/>
          </a:stretch>
        </p:blipFill>
        <p:spPr>
          <a:xfrm>
            <a:off x="2960925" y="4068750"/>
            <a:ext cx="3105525" cy="1050650"/>
          </a:xfrm>
          <a:prstGeom prst="rect">
            <a:avLst/>
          </a:prstGeom>
          <a:noFill/>
          <a:ln>
            <a:noFill/>
          </a:ln>
        </p:spPr>
      </p:pic>
      <p:pic>
        <p:nvPicPr>
          <p:cNvPr id="156" name="Google Shape;156;p28"/>
          <p:cNvPicPr preferRelativeResize="0"/>
          <p:nvPr/>
        </p:nvPicPr>
        <p:blipFill>
          <a:blip r:embed="rId6">
            <a:alphaModFix/>
          </a:blip>
          <a:stretch>
            <a:fillRect/>
          </a:stretch>
        </p:blipFill>
        <p:spPr>
          <a:xfrm>
            <a:off x="6066450" y="1003600"/>
            <a:ext cx="3077550" cy="3041075"/>
          </a:xfrm>
          <a:prstGeom prst="rect">
            <a:avLst/>
          </a:prstGeom>
          <a:noFill/>
          <a:ln>
            <a:noFill/>
          </a:ln>
        </p:spPr>
      </p:pic>
      <p:pic>
        <p:nvPicPr>
          <p:cNvPr id="157" name="Google Shape;157;p28"/>
          <p:cNvPicPr preferRelativeResize="0"/>
          <p:nvPr/>
        </p:nvPicPr>
        <p:blipFill>
          <a:blip r:embed="rId7">
            <a:alphaModFix/>
          </a:blip>
          <a:stretch>
            <a:fillRect/>
          </a:stretch>
        </p:blipFill>
        <p:spPr>
          <a:xfrm>
            <a:off x="6122600" y="4068750"/>
            <a:ext cx="3021400" cy="995025"/>
          </a:xfrm>
          <a:prstGeom prst="rect">
            <a:avLst/>
          </a:prstGeom>
          <a:noFill/>
          <a:ln>
            <a:noFill/>
          </a:ln>
        </p:spPr>
      </p:pic>
      <p:pic>
        <p:nvPicPr>
          <p:cNvPr id="158" name="Google Shape;158;p28"/>
          <p:cNvPicPr preferRelativeResize="0"/>
          <p:nvPr/>
        </p:nvPicPr>
        <p:blipFill>
          <a:blip r:embed="rId8">
            <a:alphaModFix/>
          </a:blip>
          <a:stretch>
            <a:fillRect/>
          </a:stretch>
        </p:blipFill>
        <p:spPr>
          <a:xfrm>
            <a:off x="2968725" y="1003600"/>
            <a:ext cx="3105525" cy="3041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ctrTitle"/>
          </p:nvPr>
        </p:nvSpPr>
        <p:spPr>
          <a:xfrm>
            <a:off x="2976975" y="-433325"/>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Cities Income</a:t>
            </a:r>
            <a:endParaRPr/>
          </a:p>
        </p:txBody>
      </p:sp>
      <p:pic>
        <p:nvPicPr>
          <p:cNvPr id="164" name="Google Shape;164;p29"/>
          <p:cNvPicPr preferRelativeResize="0"/>
          <p:nvPr/>
        </p:nvPicPr>
        <p:blipFill>
          <a:blip r:embed="rId3">
            <a:alphaModFix/>
          </a:blip>
          <a:stretch>
            <a:fillRect/>
          </a:stretch>
        </p:blipFill>
        <p:spPr>
          <a:xfrm>
            <a:off x="0" y="995575"/>
            <a:ext cx="2768501" cy="4147925"/>
          </a:xfrm>
          <a:prstGeom prst="rect">
            <a:avLst/>
          </a:prstGeom>
          <a:noFill/>
          <a:ln>
            <a:noFill/>
          </a:ln>
        </p:spPr>
      </p:pic>
      <p:pic>
        <p:nvPicPr>
          <p:cNvPr id="165" name="Google Shape;165;p29"/>
          <p:cNvPicPr preferRelativeResize="0"/>
          <p:nvPr/>
        </p:nvPicPr>
        <p:blipFill>
          <a:blip r:embed="rId4">
            <a:alphaModFix/>
          </a:blip>
          <a:stretch>
            <a:fillRect/>
          </a:stretch>
        </p:blipFill>
        <p:spPr>
          <a:xfrm>
            <a:off x="2768500" y="995575"/>
            <a:ext cx="3145475" cy="4147925"/>
          </a:xfrm>
          <a:prstGeom prst="rect">
            <a:avLst/>
          </a:prstGeom>
          <a:noFill/>
          <a:ln>
            <a:noFill/>
          </a:ln>
        </p:spPr>
      </p:pic>
      <p:pic>
        <p:nvPicPr>
          <p:cNvPr id="166" name="Google Shape;166;p29"/>
          <p:cNvPicPr preferRelativeResize="0"/>
          <p:nvPr/>
        </p:nvPicPr>
        <p:blipFill>
          <a:blip r:embed="rId5">
            <a:alphaModFix/>
          </a:blip>
          <a:stretch>
            <a:fillRect/>
          </a:stretch>
        </p:blipFill>
        <p:spPr>
          <a:xfrm>
            <a:off x="5913975" y="995575"/>
            <a:ext cx="3230025" cy="4147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ctrTitle"/>
          </p:nvPr>
        </p:nvSpPr>
        <p:spPr>
          <a:xfrm>
            <a:off x="2880675" y="-264800"/>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Card vs Cash</a:t>
            </a:r>
            <a:endParaRPr/>
          </a:p>
        </p:txBody>
      </p:sp>
      <p:pic>
        <p:nvPicPr>
          <p:cNvPr id="172" name="Google Shape;172;p30"/>
          <p:cNvPicPr preferRelativeResize="0"/>
          <p:nvPr/>
        </p:nvPicPr>
        <p:blipFill>
          <a:blip r:embed="rId3">
            <a:alphaModFix/>
          </a:blip>
          <a:stretch>
            <a:fillRect/>
          </a:stretch>
        </p:blipFill>
        <p:spPr>
          <a:xfrm>
            <a:off x="0" y="1011700"/>
            <a:ext cx="3065401" cy="3506450"/>
          </a:xfrm>
          <a:prstGeom prst="rect">
            <a:avLst/>
          </a:prstGeom>
          <a:noFill/>
          <a:ln>
            <a:noFill/>
          </a:ln>
        </p:spPr>
      </p:pic>
      <p:pic>
        <p:nvPicPr>
          <p:cNvPr id="173" name="Google Shape;173;p30"/>
          <p:cNvPicPr preferRelativeResize="0"/>
          <p:nvPr/>
        </p:nvPicPr>
        <p:blipFill>
          <a:blip r:embed="rId4">
            <a:alphaModFix/>
          </a:blip>
          <a:stretch>
            <a:fillRect/>
          </a:stretch>
        </p:blipFill>
        <p:spPr>
          <a:xfrm>
            <a:off x="0" y="4518150"/>
            <a:ext cx="3113525" cy="569700"/>
          </a:xfrm>
          <a:prstGeom prst="rect">
            <a:avLst/>
          </a:prstGeom>
          <a:noFill/>
          <a:ln>
            <a:noFill/>
          </a:ln>
        </p:spPr>
      </p:pic>
      <p:pic>
        <p:nvPicPr>
          <p:cNvPr id="174" name="Google Shape;174;p30"/>
          <p:cNvPicPr preferRelativeResize="0"/>
          <p:nvPr/>
        </p:nvPicPr>
        <p:blipFill>
          <a:blip r:embed="rId5">
            <a:alphaModFix/>
          </a:blip>
          <a:stretch>
            <a:fillRect/>
          </a:stretch>
        </p:blipFill>
        <p:spPr>
          <a:xfrm>
            <a:off x="3113525" y="1011700"/>
            <a:ext cx="3297950" cy="3506450"/>
          </a:xfrm>
          <a:prstGeom prst="rect">
            <a:avLst/>
          </a:prstGeom>
          <a:noFill/>
          <a:ln>
            <a:noFill/>
          </a:ln>
        </p:spPr>
      </p:pic>
      <p:pic>
        <p:nvPicPr>
          <p:cNvPr id="175" name="Google Shape;175;p30"/>
          <p:cNvPicPr preferRelativeResize="0"/>
          <p:nvPr/>
        </p:nvPicPr>
        <p:blipFill>
          <a:blip r:embed="rId6">
            <a:alphaModFix/>
          </a:blip>
          <a:stretch>
            <a:fillRect/>
          </a:stretch>
        </p:blipFill>
        <p:spPr>
          <a:xfrm>
            <a:off x="3113525" y="4486050"/>
            <a:ext cx="3297950" cy="569700"/>
          </a:xfrm>
          <a:prstGeom prst="rect">
            <a:avLst/>
          </a:prstGeom>
          <a:noFill/>
          <a:ln>
            <a:noFill/>
          </a:ln>
        </p:spPr>
      </p:pic>
      <p:pic>
        <p:nvPicPr>
          <p:cNvPr id="176" name="Google Shape;176;p30"/>
          <p:cNvPicPr preferRelativeResize="0"/>
          <p:nvPr/>
        </p:nvPicPr>
        <p:blipFill>
          <a:blip r:embed="rId7">
            <a:alphaModFix/>
          </a:blip>
          <a:stretch>
            <a:fillRect/>
          </a:stretch>
        </p:blipFill>
        <p:spPr>
          <a:xfrm>
            <a:off x="6411475" y="1027750"/>
            <a:ext cx="2732526" cy="3474350"/>
          </a:xfrm>
          <a:prstGeom prst="rect">
            <a:avLst/>
          </a:prstGeom>
          <a:noFill/>
          <a:ln>
            <a:noFill/>
          </a:ln>
        </p:spPr>
      </p:pic>
      <p:pic>
        <p:nvPicPr>
          <p:cNvPr id="177" name="Google Shape;177;p30"/>
          <p:cNvPicPr preferRelativeResize="0"/>
          <p:nvPr/>
        </p:nvPicPr>
        <p:blipFill>
          <a:blip r:embed="rId8">
            <a:alphaModFix/>
          </a:blip>
          <a:stretch>
            <a:fillRect/>
          </a:stretch>
        </p:blipFill>
        <p:spPr>
          <a:xfrm>
            <a:off x="6459600" y="4502100"/>
            <a:ext cx="2684400" cy="521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ctrTitle"/>
          </p:nvPr>
        </p:nvSpPr>
        <p:spPr>
          <a:xfrm>
            <a:off x="1917800" y="-377150"/>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Income vs Date graph</a:t>
            </a:r>
            <a:endParaRPr/>
          </a:p>
        </p:txBody>
      </p:sp>
      <p:sp>
        <p:nvSpPr>
          <p:cNvPr id="183" name="Google Shape;183;p31"/>
          <p:cNvSpPr txBox="1"/>
          <p:nvPr>
            <p:ph idx="1" type="subTitle"/>
          </p:nvPr>
        </p:nvSpPr>
        <p:spPr>
          <a:xfrm>
            <a:off x="1143000" y="2701528"/>
            <a:ext cx="6858000" cy="1241700"/>
          </a:xfrm>
          <a:prstGeom prst="rect">
            <a:avLst/>
          </a:prstGeom>
        </p:spPr>
        <p:txBody>
          <a:bodyPr anchorCtr="0" anchor="t" bIns="34275" lIns="68575" spcFirstLastPara="1" rIns="68575" wrap="square" tIns="34275">
            <a:normAutofit/>
          </a:bodyPr>
          <a:lstStyle/>
          <a:p>
            <a:pPr indent="0" lvl="0" marL="0" rtl="0" algn="ctr">
              <a:spcBef>
                <a:spcPts val="800"/>
              </a:spcBef>
              <a:spcAft>
                <a:spcPts val="0"/>
              </a:spcAft>
              <a:buNone/>
            </a:pPr>
            <a:r>
              <a:t/>
            </a:r>
            <a:endParaRPr/>
          </a:p>
        </p:txBody>
      </p:sp>
      <p:pic>
        <p:nvPicPr>
          <p:cNvPr id="184" name="Google Shape;184;p31"/>
          <p:cNvPicPr preferRelativeResize="0"/>
          <p:nvPr/>
        </p:nvPicPr>
        <p:blipFill>
          <a:blip r:embed="rId3">
            <a:alphaModFix/>
          </a:blip>
          <a:stretch>
            <a:fillRect/>
          </a:stretch>
        </p:blipFill>
        <p:spPr>
          <a:xfrm>
            <a:off x="0" y="899350"/>
            <a:ext cx="9144000" cy="4244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ctrTitle"/>
          </p:nvPr>
        </p:nvSpPr>
        <p:spPr>
          <a:xfrm>
            <a:off x="3506550" y="-569725"/>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Prediction</a:t>
            </a:r>
            <a:endParaRPr/>
          </a:p>
        </p:txBody>
      </p:sp>
      <p:sp>
        <p:nvSpPr>
          <p:cNvPr id="190" name="Google Shape;190;p32"/>
          <p:cNvSpPr txBox="1"/>
          <p:nvPr>
            <p:ph idx="1" type="subTitle"/>
          </p:nvPr>
        </p:nvSpPr>
        <p:spPr>
          <a:xfrm>
            <a:off x="1143000" y="2701528"/>
            <a:ext cx="6858000" cy="1241700"/>
          </a:xfrm>
          <a:prstGeom prst="rect">
            <a:avLst/>
          </a:prstGeom>
        </p:spPr>
        <p:txBody>
          <a:bodyPr anchorCtr="0" anchor="t" bIns="34275" lIns="68575" spcFirstLastPara="1" rIns="68575" wrap="square" tIns="34275">
            <a:normAutofit/>
          </a:bodyPr>
          <a:lstStyle/>
          <a:p>
            <a:pPr indent="0" lvl="0" marL="0" rtl="0" algn="ctr">
              <a:spcBef>
                <a:spcPts val="800"/>
              </a:spcBef>
              <a:spcAft>
                <a:spcPts val="0"/>
              </a:spcAft>
              <a:buNone/>
            </a:pPr>
            <a:r>
              <a:t/>
            </a:r>
            <a:endParaRPr/>
          </a:p>
        </p:txBody>
      </p:sp>
      <p:pic>
        <p:nvPicPr>
          <p:cNvPr id="191" name="Google Shape;191;p32"/>
          <p:cNvPicPr preferRelativeResize="0"/>
          <p:nvPr/>
        </p:nvPicPr>
        <p:blipFill>
          <a:blip r:embed="rId3">
            <a:alphaModFix/>
          </a:blip>
          <a:stretch>
            <a:fillRect/>
          </a:stretch>
        </p:blipFill>
        <p:spPr>
          <a:xfrm>
            <a:off x="32250" y="827025"/>
            <a:ext cx="9111750" cy="4276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ctrTitle"/>
          </p:nvPr>
        </p:nvSpPr>
        <p:spPr>
          <a:xfrm>
            <a:off x="3490500" y="-457375"/>
            <a:ext cx="9144000" cy="1276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Analysis</a:t>
            </a:r>
            <a:endParaRPr/>
          </a:p>
        </p:txBody>
      </p:sp>
      <p:sp>
        <p:nvSpPr>
          <p:cNvPr id="197" name="Google Shape;197;p33"/>
          <p:cNvSpPr txBox="1"/>
          <p:nvPr>
            <p:ph idx="1" type="subTitle"/>
          </p:nvPr>
        </p:nvSpPr>
        <p:spPr>
          <a:xfrm>
            <a:off x="1271350" y="1252300"/>
            <a:ext cx="6858000" cy="3490500"/>
          </a:xfrm>
          <a:prstGeom prst="rect">
            <a:avLst/>
          </a:prstGeom>
        </p:spPr>
        <p:txBody>
          <a:bodyPr anchorCtr="0" anchor="t" bIns="34275" lIns="68575" spcFirstLastPara="1" rIns="68575" wrap="square" tIns="34275">
            <a:normAutofit fontScale="85000" lnSpcReduction="20000"/>
          </a:bodyPr>
          <a:lstStyle/>
          <a:p>
            <a:pPr indent="-325755" lvl="0" marL="457200" rtl="0" algn="l">
              <a:spcBef>
                <a:spcPts val="800"/>
              </a:spcBef>
              <a:spcAft>
                <a:spcPts val="0"/>
              </a:spcAft>
              <a:buSzPct val="100000"/>
              <a:buAutoNum type="arabicPeriod"/>
            </a:pPr>
            <a:r>
              <a:rPr lang="en"/>
              <a:t>Men prefer to spend more money for this business, despite the fact that men have the same salary as women. </a:t>
            </a:r>
            <a:endParaRPr/>
          </a:p>
          <a:p>
            <a:pPr indent="-325755" lvl="0" marL="457200" rtl="0" algn="l">
              <a:spcBef>
                <a:spcPts val="0"/>
              </a:spcBef>
              <a:spcAft>
                <a:spcPts val="0"/>
              </a:spcAft>
              <a:buSzPct val="100000"/>
              <a:buAutoNum type="arabicPeriod"/>
            </a:pPr>
            <a:r>
              <a:rPr lang="en"/>
              <a:t>The most popular city for this business - New York City. This city takes more than 50% of the income. The only cities that have more than 25000 users are Boston, Chicago, Los Angeles, Washington and New York. I recommend to strengthen promotion of this business in 6 </a:t>
            </a:r>
            <a:r>
              <a:rPr lang="en"/>
              <a:t>sites</a:t>
            </a:r>
            <a:r>
              <a:rPr lang="en"/>
              <a:t>, mentioned above.</a:t>
            </a:r>
            <a:endParaRPr/>
          </a:p>
          <a:p>
            <a:pPr indent="-325755" lvl="0" marL="457200" rtl="0" algn="l">
              <a:spcBef>
                <a:spcPts val="0"/>
              </a:spcBef>
              <a:spcAft>
                <a:spcPts val="0"/>
              </a:spcAft>
              <a:buSzPct val="100000"/>
              <a:buAutoNum type="arabicPeriod"/>
            </a:pPr>
            <a:r>
              <a:rPr lang="en"/>
              <a:t> The income of card users slightly more than the income of cash payers. </a:t>
            </a:r>
            <a:endParaRPr/>
          </a:p>
          <a:p>
            <a:pPr indent="-325755" lvl="0" marL="457200" rtl="0" algn="l">
              <a:spcBef>
                <a:spcPts val="0"/>
              </a:spcBef>
              <a:spcAft>
                <a:spcPts val="0"/>
              </a:spcAft>
              <a:buSzPct val="100000"/>
              <a:buAutoNum type="arabicPeriod"/>
            </a:pPr>
            <a:r>
              <a:rPr lang="en"/>
              <a:t>The income rises during about 350 days to the peak, then falls to the income of the first day. And again the same rise of the income goes the next 350 days. Unstable income. </a:t>
            </a:r>
            <a:endParaRPr/>
          </a:p>
          <a:p>
            <a:pPr indent="0" lvl="0" marL="0" rtl="0" algn="ctr">
              <a:spcBef>
                <a:spcPts val="800"/>
              </a:spcBef>
              <a:spcAft>
                <a:spcPts val="0"/>
              </a:spcAft>
              <a:buNone/>
            </a:pPr>
            <a:r>
              <a:t/>
            </a:r>
            <a:endParaRPr/>
          </a:p>
          <a:p>
            <a:pPr indent="0" lvl="0" marL="0" rtl="0" algn="ctr">
              <a:spcBef>
                <a:spcPts val="800"/>
              </a:spcBef>
              <a:spcAft>
                <a:spcPts val="0"/>
              </a:spcAft>
              <a:buNone/>
            </a:pPr>
            <a:r>
              <a:t/>
            </a:r>
            <a:endParaRPr/>
          </a:p>
          <a:p>
            <a:pPr indent="0" lvl="0" marL="0" rtl="0" algn="ctr">
              <a:spcBef>
                <a:spcPts val="800"/>
              </a:spcBef>
              <a:spcAft>
                <a:spcPts val="0"/>
              </a:spcAft>
              <a:buNone/>
            </a:pPr>
            <a:r>
              <a:t/>
            </a:r>
            <a:endParaRPr/>
          </a:p>
          <a:p>
            <a:pPr indent="0" lvl="0" marL="0" rtl="0" algn="ctr">
              <a:spcBef>
                <a:spcPts val="800"/>
              </a:spcBef>
              <a:spcAft>
                <a:spcPts val="0"/>
              </a:spcAft>
              <a:buNone/>
            </a:pPr>
            <a:r>
              <a:t/>
            </a:r>
            <a:endParaRPr/>
          </a:p>
          <a:p>
            <a:pPr indent="0" lvl="0" marL="0" rtl="0" algn="ctr">
              <a:spcBef>
                <a:spcPts val="800"/>
              </a:spcBef>
              <a:spcAft>
                <a:spcPts val="0"/>
              </a:spcAft>
              <a:buNone/>
            </a:pPr>
            <a:r>
              <a:rPr lang="en"/>
              <a:t>The data behaves very strange. Generally I would not recommend to invest in this company, the rise of the income during the 2 years period is very slow.</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ctrTitle"/>
          </p:nvPr>
        </p:nvSpPr>
        <p:spPr>
          <a:xfrm>
            <a:off x="-1" y="0"/>
            <a:ext cx="4299857" cy="5143502"/>
          </a:xfrm>
          <a:prstGeom prst="rect">
            <a:avLst/>
          </a:prstGeom>
          <a:solidFill>
            <a:srgbClr val="3B3B3B"/>
          </a:solid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dk1"/>
              </a:buClr>
              <a:buSzPts val="4500"/>
              <a:buFont typeface="Calibri"/>
              <a:buNone/>
            </a:pPr>
            <a:r>
              <a:t/>
            </a:r>
            <a:endParaRPr b="1" sz="1100">
              <a:solidFill>
                <a:srgbClr val="FF6600"/>
              </a:solidFill>
            </a:endParaRPr>
          </a:p>
        </p:txBody>
      </p:sp>
      <p:pic>
        <p:nvPicPr>
          <p:cNvPr id="203" name="Google Shape;203;p34"/>
          <p:cNvPicPr preferRelativeResize="0"/>
          <p:nvPr/>
        </p:nvPicPr>
        <p:blipFill rotWithShape="1">
          <a:blip r:embed="rId3">
            <a:alphaModFix/>
          </a:blip>
          <a:srcRect b="0" l="0" r="0" t="0"/>
          <a:stretch/>
        </p:blipFill>
        <p:spPr>
          <a:xfrm>
            <a:off x="0" y="4397828"/>
            <a:ext cx="1240970" cy="745674"/>
          </a:xfrm>
          <a:prstGeom prst="rect">
            <a:avLst/>
          </a:prstGeom>
          <a:noFill/>
          <a:ln>
            <a:noFill/>
          </a:ln>
        </p:spPr>
      </p:pic>
      <p:sp>
        <p:nvSpPr>
          <p:cNvPr id="204" name="Google Shape;204;p34"/>
          <p:cNvSpPr txBox="1"/>
          <p:nvPr>
            <p:ph idx="1" type="subTitle"/>
          </p:nvPr>
        </p:nvSpPr>
        <p:spPr>
          <a:xfrm>
            <a:off x="3864427" y="1861457"/>
            <a:ext cx="4169230" cy="1241821"/>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rgbClr val="FF6600"/>
              </a:buClr>
              <a:buSzPts val="5000"/>
              <a:buNone/>
            </a:pPr>
            <a:r>
              <a:rPr lang="en" sz="5000">
                <a:solidFill>
                  <a:srgbClr val="FF6600"/>
                </a:solidFill>
              </a:rPr>
              <a:t>Thank You</a:t>
            </a:r>
            <a:endParaRPr sz="1100"/>
          </a:p>
          <a:p>
            <a:pPr indent="0" lvl="0" marL="0" rtl="0" algn="ctr">
              <a:lnSpc>
                <a:spcPct val="90000"/>
              </a:lnSpc>
              <a:spcBef>
                <a:spcPts val="800"/>
              </a:spcBef>
              <a:spcAft>
                <a:spcPts val="0"/>
              </a:spcAft>
              <a:buClr>
                <a:schemeClr val="dk1"/>
              </a:buClr>
              <a:buSzPts val="5000"/>
              <a:buNone/>
            </a:pPr>
            <a:r>
              <a:t/>
            </a:r>
            <a:endParaRPr sz="5000">
              <a:solidFill>
                <a:srgbClr val="FF66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